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 Medium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E125D4-2C3C-455F-B136-5C23B203D678}">
  <a:tblStyle styleId="{29E125D4-2C3C-455F-B136-5C23B203D67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Medium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Medium-bold.fntdata"/><Relationship Id="rId18" Type="http://schemas.openxmlformats.org/officeDocument/2006/relationships/font" Target="fonts/Urbanist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25.png"/><Relationship Id="rId13" Type="http://schemas.openxmlformats.org/officeDocument/2006/relationships/image" Target="../media/image8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9" Type="http://schemas.openxmlformats.org/officeDocument/2006/relationships/image" Target="../media/image24.png"/><Relationship Id="rId15" Type="http://schemas.openxmlformats.org/officeDocument/2006/relationships/image" Target="../media/image26.png"/><Relationship Id="rId1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9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3.png"/><Relationship Id="rId8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30.png"/><Relationship Id="rId7" Type="http://schemas.openxmlformats.org/officeDocument/2006/relationships/image" Target="../media/image14.png"/><Relationship Id="rId8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1625" y="1095375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905726" y="2809875"/>
            <a:ext cx="438054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Audio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Guard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105025" y="3933825"/>
            <a:ext cx="79819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Speech · Music · Environmental Noise — Classical ML Audio Classifier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0675" y="1114425"/>
            <a:ext cx="1390650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9168750" y="5130500"/>
            <a:ext cx="26124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Team: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b="0" i="0" sz="16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45720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  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rya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Remani</a:t>
            </a:r>
            <a:endParaRPr b="0" i="0" sz="16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           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Aleena Antony </a:t>
            </a:r>
            <a:endParaRPr b="0" i="0" sz="16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            Ananthanarayanan 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4930854" y="2629792"/>
            <a:ext cx="23302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CORE FOUNDATIONS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524500" y="3191767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3990975" y="3725167"/>
            <a:ext cx="42100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Introduction, Objectives &amp; Dataset Exploration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9072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19907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Objective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2419350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AudioGuard is a robust classifier designed to distinguish between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speech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music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and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noise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signals.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3215580"/>
            <a:ext cx="533400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Unlike modern deep learning black-boxes, this system relies on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hand-crafted acoustic features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and classical machine learning, ensuring high interpretability and efficiency.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000250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System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1177"/>
            <a:ext cx="5334000" cy="3708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41177"/>
            <a:ext cx="5334000" cy="370894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962025" y="2431702"/>
            <a:ext cx="478059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Dataset Profile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6677025" y="2431702"/>
            <a:ext cx="478059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Target Classes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390650" y="2936527"/>
            <a:ext cx="41243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109 Hours of Total Audio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390650" y="3467992"/>
            <a:ext cx="41243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High-quality WAV format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390650" y="3999458"/>
            <a:ext cx="41243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Multilingual (12 languages)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390650" y="4530923"/>
            <a:ext cx="41243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Stratified Splitting Used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305454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7296150" y="3146077"/>
            <a:ext cx="2905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Speech: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Conversational &amp; Read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3909863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7296150" y="4001392"/>
            <a:ext cx="31813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Music: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Various Genres &amp; Vocal/Inst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476517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296150" y="4856708"/>
            <a:ext cx="3190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Noise: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Technical &amp; Ambient sounds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" y="297462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2025" y="350609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2025" y="403755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2025" y="4569023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858000" y="3216473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38950" y="4071788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838950" y="4927103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MUSAN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Corpus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4935855" y="2629792"/>
            <a:ext cx="232029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TECHNICAL PIPELINE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524500" y="3191767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4191000" y="3725167"/>
            <a:ext cx="3810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Feature Engineering &amp; Model Architecture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0277"/>
            <a:ext cx="3555950" cy="2870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460277"/>
            <a:ext cx="3555950" cy="2870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60277"/>
            <a:ext cx="3555950" cy="287074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782638" y="3488977"/>
            <a:ext cx="313367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Preprocessing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57250" y="3917602"/>
            <a:ext cx="29844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Pre-emphasis &amp; Peak Normalization on 3s segments @ 22,050 Hz.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4529089" y="3488977"/>
            <a:ext cx="313367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Feature Selection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4603700" y="3917602"/>
            <a:ext cx="2984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153 raw dimensions reduced to top 80 via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Mutual Information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275539" y="3488977"/>
            <a:ext cx="313367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Classification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350150" y="3917602"/>
            <a:ext cx="29844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Parallel training of SVM, KNN, and Gradient Boosting ensembles.</a:t>
            </a:r>
            <a:endParaRPr/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3650" y="278412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251" y="27841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3701" y="278412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ML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Architecture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7" name="Google Shape;167;p19"/>
          <p:cNvGraphicFramePr/>
          <p:nvPr/>
        </p:nvGraphicFramePr>
        <p:xfrm>
          <a:off x="571500" y="21059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{29E125D4-2C3C-455F-B136-5C23B203D678}</a:tableStyleId>
              </a:tblPr>
              <a:tblGrid>
                <a:gridCol w="3381675"/>
                <a:gridCol w="5462875"/>
                <a:gridCol w="2204450"/>
              </a:tblGrid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cap="none" strike="noStrike">
                          <a:solidFill>
                            <a:srgbClr val="0A0E1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 Group</a:t>
                      </a:r>
                      <a:endParaRPr>
                        <a:solidFill>
                          <a:srgbClr val="0A0E14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cap="none" strike="noStrike">
                          <a:solidFill>
                            <a:srgbClr val="0A0E1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Extracted Metrics</a:t>
                      </a:r>
                      <a:endParaRPr>
                        <a:solidFill>
                          <a:srgbClr val="0A0E14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cap="none" strike="noStrike">
                          <a:solidFill>
                            <a:srgbClr val="0A0E1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Dimensions</a:t>
                      </a:r>
                      <a:endParaRPr>
                        <a:solidFill>
                          <a:srgbClr val="0A0E14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MFCC (Raw + Δ + Δ²)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Mean, Variance, Skewness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140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Spectral Centroid / BW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Timbral brightness and spread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Spectral Flux / Rolloff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Spectral change &amp; high-freq cutoff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Temporal Features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Zero Crossing Rate &amp; Short-Time Energy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8" name="Google Shape;168;p19"/>
          <p:cNvSpPr txBox="1"/>
          <p:nvPr/>
        </p:nvSpPr>
        <p:spPr>
          <a:xfrm>
            <a:off x="571500" y="5372992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TOTAL RAW FEATURES: 153 → SELECTED: 80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3329880"/>
            <a:ext cx="33816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3953172" y="3329880"/>
            <a:ext cx="54628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9416057" y="3329880"/>
            <a:ext cx="220444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71500" y="3910905"/>
            <a:ext cx="33816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3953172" y="3910905"/>
            <a:ext cx="54628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9416057" y="3910905"/>
            <a:ext cx="220444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571500" y="4491930"/>
            <a:ext cx="33816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3953172" y="4491930"/>
            <a:ext cx="54628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9416057" y="4491930"/>
            <a:ext cx="220444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571500" y="5072955"/>
            <a:ext cx="33816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3953172" y="5072955"/>
            <a:ext cx="54628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9416057" y="5072955"/>
            <a:ext cx="220444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Acoustic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Feature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Groups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71500" y="5692080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* Gradient Boosting shows the best overall performance and is used as the default in the deployment app.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Performance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Metrics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571500" y="5406330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SVM degrades gracefully, retaining usable accuracy at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≥15 dB SNR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(Cafe Environment).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SNR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Robustness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Analysis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571500" y="966787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Streamlit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Deployment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571500" y="2109787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user-friendly web interface allows users to upload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.wav, .mp3, or .flac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files for real-time classification.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1000125" y="3191767"/>
            <a:ext cx="4524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Drag-and-drop file upload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1000125" y="3723233"/>
            <a:ext cx="4524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Prediction probability bar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1000125" y="4254698"/>
            <a:ext cx="4524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Streamlit dark-theme UI</a:t>
            </a:r>
            <a:endParaRPr/>
          </a:p>
        </p:txBody>
      </p:sp>
      <p:pic>
        <p:nvPicPr>
          <p:cNvPr descr="image.png" id="208" name="Google Shape;20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2986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61333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92798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72150" y="3950"/>
            <a:ext cx="6419850" cy="392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97278" y="3428999"/>
            <a:ext cx="6494721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742950" y="5157650"/>
            <a:ext cx="352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Link: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audio-classification-mfcc-svm.vercel.app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2315552" y="2967304"/>
            <a:ext cx="756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Questions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4152900" y="4151429"/>
            <a:ext cx="38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attention!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4333875" y="5543550"/>
            <a:ext cx="3524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